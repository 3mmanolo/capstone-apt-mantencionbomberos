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mBvAtIoWJ6rY9odQ5Qtf/k+3b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0" Type="http://schemas.openxmlformats.org/officeDocument/2006/relationships/image" Target="../media/image14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 rot="-240000">
            <a:off x="-914400" y="-914400"/>
            <a:ext cx="14017752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_dots_light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22950" y="597425"/>
            <a:ext cx="1005900" cy="109410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re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325" y="797006"/>
            <a:ext cx="694944" cy="6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Gestión de Mantenimiento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EB8E8"/>
                </a:solidFill>
                <a:latin typeface="Calibri"/>
                <a:ea typeface="Calibri"/>
                <a:cs typeface="Calibri"/>
                <a:sym typeface="Calibri"/>
              </a:rPr>
              <a:t>Cuerpo de Bomberos de Talcahuano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3977640"/>
            <a:ext cx="749808" cy="310896"/>
          </a:xfrm>
          <a:prstGeom prst="roundRect">
            <a:avLst>
              <a:gd fmla="val 17647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822960" y="3977640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6F7FB"/>
                </a:solidFill>
                <a:latin typeface="Courier New"/>
                <a:ea typeface="Courier New"/>
                <a:cs typeface="Courier New"/>
                <a:sym typeface="Courier New"/>
              </a:rPr>
              <a:t>Django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28800" y="3977640"/>
            <a:ext cx="1115568" cy="310896"/>
          </a:xfrm>
          <a:prstGeom prst="roundRect">
            <a:avLst>
              <a:gd fmla="val 17647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1828800" y="3977640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6F7FB"/>
                </a:solidFill>
                <a:latin typeface="Courier New"/>
                <a:ea typeface="Courier New"/>
                <a:cs typeface="Courier New"/>
                <a:sym typeface="Courier New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00400" y="3977640"/>
            <a:ext cx="749808" cy="310896"/>
          </a:xfrm>
          <a:prstGeom prst="roundRect">
            <a:avLst>
              <a:gd fmla="val 17647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3200400" y="3977640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6F7FB"/>
                </a:solidFill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206240" y="3977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4206240" y="3977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6F7FB"/>
                </a:solidFill>
                <a:latin typeface="Courier New"/>
                <a:ea typeface="Courier New"/>
                <a:cs typeface="Courier New"/>
                <a:sym typeface="Courier New"/>
              </a:rPr>
              <a:t>Scrum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889035" y="4668940"/>
            <a:ext cx="2926200" cy="0"/>
          </a:xfrm>
          <a:prstGeom prst="straightConnector1">
            <a:avLst/>
          </a:prstGeom>
          <a:noFill/>
          <a:ln cap="flat" cmpd="sng" w="12700">
            <a:solidFill>
              <a:srgbClr val="3A3D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 txBox="1"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Alvaro Caroca · Felipe Castañeda · Emmanuel Cabrera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822960" y="6217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Docente: Juan Hernández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dots_dark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0" y="-18720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640080" y="502920"/>
            <a:ext cx="749808" cy="749808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efinicion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50" y="592900"/>
            <a:ext cx="502900" cy="50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1536192" y="548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1536192" y="548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//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508760" y="8686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Definición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1536192"/>
            <a:ext cx="10908792" cy="13716"/>
          </a:xfrm>
          <a:prstGeom prst="rect">
            <a:avLst/>
          </a:prstGeom>
          <a:solidFill>
            <a:srgbClr val="D8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40080" y="178308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Plataforma web + app móvil para centralizar el estado de la flota de emergencia.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640080" y="2148840"/>
            <a:ext cx="109087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Reemplaza las planillas manuales por un sistema único donde se registra el estado de cada vehículo, sus mantenciones y la disponibilidad de repuestos.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75" y="2880349"/>
            <a:ext cx="2194500" cy="13812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905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481328" y="3044952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2776" y="3106400"/>
            <a:ext cx="389169" cy="38916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 txBox="1"/>
          <p:nvPr/>
        </p:nvSpPr>
        <p:spPr>
          <a:xfrm>
            <a:off x="731520" y="3611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Bomberos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731520" y="3867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usuarios en terreno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566160" y="2880360"/>
            <a:ext cx="3017520" cy="1234440"/>
          </a:xfrm>
          <a:prstGeom prst="roundRect">
            <a:avLst>
              <a:gd fmla="val 7407" name="adj"/>
            </a:avLst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18888" y="3044952"/>
            <a:ext cx="512064" cy="512064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.png" id="54" name="Google Shape;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0336" y="3106400"/>
            <a:ext cx="389169" cy="3891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/>
        </p:nvSpPr>
        <p:spPr>
          <a:xfrm>
            <a:off x="3657600" y="36118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Web + App 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3657600" y="386791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Django · responsive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315200" y="2880360"/>
            <a:ext cx="219456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905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156448" y="3044952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59" name="Google Shape;5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871" y="3103825"/>
            <a:ext cx="389169" cy="38916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7406640" y="3611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7406640" y="3867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2880360" y="349758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p2"/>
          <p:cNvCxnSpPr/>
          <p:nvPr/>
        </p:nvCxnSpPr>
        <p:spPr>
          <a:xfrm>
            <a:off x="6629400" y="349758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2"/>
          <p:cNvSpPr/>
          <p:nvPr/>
        </p:nvSpPr>
        <p:spPr>
          <a:xfrm>
            <a:off x="640080" y="4526280"/>
            <a:ext cx="352044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41250" y="4690875"/>
            <a:ext cx="389100" cy="41160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uck.png" id="66" name="Google Shape;6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0626" y="4740250"/>
            <a:ext cx="312725" cy="3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1417320" y="46360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Estado de flota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1417320" y="4983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Ficha viva de cada vehículo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43400" y="4526280"/>
            <a:ext cx="352044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544568" y="4690872"/>
            <a:ext cx="411480" cy="41148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xchange.png" id="71" name="Google Shape;7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946" y="4740250"/>
            <a:ext cx="312725" cy="3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5120640" y="46360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Costos y repuestos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5120640" y="4983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Historial de mantenciones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046720" y="4526280"/>
            <a:ext cx="352044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8247888" y="4690872"/>
            <a:ext cx="411480" cy="41148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bile.png" id="76" name="Google Shape;7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5775" y="4740313"/>
            <a:ext cx="312725" cy="3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/>
        </p:nvSpPr>
        <p:spPr>
          <a:xfrm>
            <a:off x="8823960" y="46360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Agenda de llegada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823960" y="4983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Consulta rápida en terreno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BOMBEROS TALCAHUANO · CAPSTONE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62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dots_light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40080" y="502920"/>
            <a:ext cx="749808" cy="749808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536192" y="548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32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1536192" y="548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//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1508760" y="8686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0080" y="1536192"/>
            <a:ext cx="10908792" cy="13716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7C7C7"/>
                </a:solidFill>
                <a:latin typeface="Calibri"/>
                <a:ea typeface="Calibri"/>
                <a:cs typeface="Calibri"/>
                <a:sym typeface="Calibri"/>
              </a:rPr>
              <a:t>Gestión de flota 100% manual y no centralizada.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40080" y="2468880"/>
            <a:ext cx="3429000" cy="3429000"/>
          </a:xfrm>
          <a:prstGeom prst="roundRect">
            <a:avLst>
              <a:gd fmla="val 266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988820" y="2834640"/>
            <a:ext cx="731520" cy="73152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alt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660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822960" y="3840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Registro manual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960120" y="438912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Fichas y planillas físicas dificultan el seguimiento real de cada vehículo.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429000" y="2606040"/>
            <a:ext cx="384048" cy="310896"/>
          </a:xfrm>
          <a:prstGeom prst="roundRect">
            <a:avLst>
              <a:gd fmla="val 17647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3429000" y="260604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389120" y="2468880"/>
            <a:ext cx="3429000" cy="3429000"/>
          </a:xfrm>
          <a:prstGeom prst="roundRect">
            <a:avLst>
              <a:gd fmla="val 266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737860" y="2834640"/>
            <a:ext cx="731520" cy="73152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xchange.png" id="102" name="Google Shape;10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564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4572000" y="3840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Datos dispersos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709160" y="438912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No existe una fuente única de verdad para repuestos y costos.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178040" y="2606040"/>
            <a:ext cx="384048" cy="310896"/>
          </a:xfrm>
          <a:prstGeom prst="roundRect">
            <a:avLst>
              <a:gd fmla="val 17647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7178040" y="260604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138160" y="2468880"/>
            <a:ext cx="3429000" cy="3429000"/>
          </a:xfrm>
          <a:prstGeom prst="roundRect">
            <a:avLst>
              <a:gd fmla="val 266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486900" y="2834640"/>
            <a:ext cx="731520" cy="73152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erminal.png" id="109" name="Google Shape;10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468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8321040" y="3840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Sin automatización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458200" y="438912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La agenda de horas de llegada se coordina a mano, sin alertas.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0927080" y="2606040"/>
            <a:ext cx="384048" cy="310896"/>
          </a:xfrm>
          <a:prstGeom prst="roundRect">
            <a:avLst>
              <a:gd fmla="val 17647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0927080" y="260604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BOMBEROS TALCAHUANO · CAPSTONE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 title="pngwing.co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674" y="649225"/>
            <a:ext cx="548624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dots_dark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640080" y="502920"/>
            <a:ext cx="749808" cy="749808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objetivos.png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57" y="592897"/>
            <a:ext cx="569854" cy="56985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1536192" y="548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1536192" y="548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//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508760" y="8686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0080" y="1536192"/>
            <a:ext cx="10908792" cy="13716"/>
          </a:xfrm>
          <a:prstGeom prst="rect">
            <a:avLst/>
          </a:prstGeom>
          <a:solidFill>
            <a:srgbClr val="D8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40080" y="1783080"/>
            <a:ext cx="10908792" cy="1051560"/>
          </a:xfrm>
          <a:prstGeom prst="roundRect">
            <a:avLst>
              <a:gd fmla="val 869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14400" y="1938528"/>
            <a:ext cx="841248" cy="310896"/>
          </a:xfrm>
          <a:prstGeom prst="roundRect">
            <a:avLst>
              <a:gd fmla="val 17647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914400" y="1938528"/>
            <a:ext cx="841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plataforma web y una app móvil para gestionar el mantenimiento centralizado de la flota, optimizando costos, repuestos y horarios de llegada.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40080" y="3063240"/>
            <a:ext cx="120700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640080" y="3063240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ESPECÍFICOS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40080" y="3474720"/>
            <a:ext cx="5257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868680" y="3817620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alt.png" id="137" name="Google Shape;13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517" y="3859232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1600200" y="365760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Relevar requerimientos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600200" y="404164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Entrevistas al cuerpo de bomberos y Product Backlog priorizado.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263640" y="3474720"/>
            <a:ext cx="5257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492240" y="3817620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142" name="Google Shape;1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8077" y="388345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7223760" y="365760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Modelar los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223760" y="404164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Modelo relacional para vehículos, repuestos y costos.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40080" y="4892040"/>
            <a:ext cx="5257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.png" id="147" name="Google Shape;14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517" y="53007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 txBox="1"/>
          <p:nvPr/>
        </p:nvSpPr>
        <p:spPr>
          <a:xfrm>
            <a:off x="1600200" y="507492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Desarrollar web y móvil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600200" y="545896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Arquitectura integrada bajo Scrum.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263640" y="4892040"/>
            <a:ext cx="5257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492240" y="5234940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nclusion.png" id="152" name="Google Shape;15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8077" y="53007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7223760" y="507492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62E"/>
                </a:solidFill>
                <a:latin typeface="Calibri"/>
                <a:ea typeface="Calibri"/>
                <a:cs typeface="Calibri"/>
                <a:sym typeface="Calibri"/>
              </a:rPr>
              <a:t>Certificar calidad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223760" y="545896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Pruebas de caja blanca y caja negra.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BOMBEROS TALCAHUANO · CAPSTONE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dots_dark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640080" y="502920"/>
            <a:ext cx="749808" cy="749808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lcances.png" id="164" name="Google Shape;1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57" y="592897"/>
            <a:ext cx="569854" cy="5698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/>
          <p:nvPr/>
        </p:nvSpPr>
        <p:spPr>
          <a:xfrm>
            <a:off x="1536192" y="548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536192" y="548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//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1508760" y="8686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Alcances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40080" y="1536192"/>
            <a:ext cx="10908792" cy="13716"/>
          </a:xfrm>
          <a:prstGeom prst="rect">
            <a:avLst/>
          </a:prstGeom>
          <a:solidFill>
            <a:srgbClr val="D8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40080" y="1783080"/>
            <a:ext cx="138988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640080" y="1783080"/>
            <a:ext cx="1389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Python/Django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212848" y="1783080"/>
            <a:ext cx="74980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2212848" y="1783080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145536" y="1783080"/>
            <a:ext cx="74980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3145536" y="1783080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078224" y="1783080"/>
            <a:ext cx="932688" cy="310896"/>
          </a:xfrm>
          <a:prstGeom prst="roundRect">
            <a:avLst>
              <a:gd fmla="val 17647" name="adj"/>
            </a:avLst>
          </a:prstGeom>
          <a:solidFill>
            <a:srgbClr val="E7E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4078224" y="1783080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Costo 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40080" y="246888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577340" y="283464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179" name="Google Shape;17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512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777240" y="37947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Modelo de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822960" y="4251960"/>
            <a:ext cx="22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Diagrama entidad-relación para vehículos, mantenciones y repuestos.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520440" y="246888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457700" y="283464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.png" id="184" name="Google Shape;18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548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3657600" y="37947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Plataforma web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3703320" y="4251960"/>
            <a:ext cx="22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Módulo administrativo con dashboard de costos y agendamiento.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400800" y="246888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7338060" y="283464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bile.png" id="189" name="Google Shape;18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584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 txBox="1"/>
          <p:nvPr/>
        </p:nvSpPr>
        <p:spPr>
          <a:xfrm>
            <a:off x="6537960" y="37947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App móvil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583680" y="4251960"/>
            <a:ext cx="22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Interfaz responsiva para consultar el estado en terreno.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9281160" y="246888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D8D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10218420" y="283464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.png" id="194" name="Google Shape;19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06202" y="29224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9418320" y="37947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3262E"/>
                </a:solidFill>
                <a:latin typeface="Cambria"/>
                <a:ea typeface="Cambria"/>
                <a:cs typeface="Cambria"/>
                <a:sym typeface="Cambria"/>
              </a:rPr>
              <a:t>Terreno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9464040" y="4251960"/>
            <a:ext cx="22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180"/>
                </a:solidFill>
                <a:latin typeface="Calibri"/>
                <a:ea typeface="Calibri"/>
                <a:cs typeface="Calibri"/>
                <a:sym typeface="Calibri"/>
              </a:rPr>
              <a:t>Entrevista real y catálogo de repuestos simulado.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BOMBEROS TALCAHUANO · CAPSTONE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718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62E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dots_light.png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640080" y="502920"/>
            <a:ext cx="749808" cy="749808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hitos.png"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57" y="592897"/>
            <a:ext cx="569854" cy="56985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1536192" y="548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32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1536192" y="548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//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1508760" y="8686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Hitos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40080" y="1536192"/>
            <a:ext cx="10908792" cy="13716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40080" y="1783080"/>
            <a:ext cx="1298448" cy="310896"/>
          </a:xfrm>
          <a:prstGeom prst="roundRect">
            <a:avLst>
              <a:gd fmla="val 17647" name="adj"/>
            </a:avLst>
          </a:prstGeom>
          <a:solidFill>
            <a:srgbClr val="32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640080" y="178308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sprint 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6"/>
          <p:cNvCxnSpPr/>
          <p:nvPr/>
        </p:nvCxnSpPr>
        <p:spPr>
          <a:xfrm>
            <a:off x="3291840" y="257860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C1121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6"/>
          <p:cNvSpPr/>
          <p:nvPr/>
        </p:nvSpPr>
        <p:spPr>
          <a:xfrm>
            <a:off x="640080" y="21945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64008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S5-6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640080" y="252374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Análisis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40080" y="3154680"/>
            <a:ext cx="2606040" cy="3017520"/>
          </a:xfrm>
          <a:prstGeom prst="roundRect">
            <a:avLst>
              <a:gd fmla="val 280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822960" y="32918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Levantamiento con Bomberos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22960" y="384048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96012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Actores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22960" y="443484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960120" y="44348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22960" y="502920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960120" y="50292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6"/>
          <p:cNvCxnSpPr/>
          <p:nvPr/>
        </p:nvCxnSpPr>
        <p:spPr>
          <a:xfrm>
            <a:off x="6217920" y="257860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C1121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6"/>
          <p:cNvSpPr/>
          <p:nvPr/>
        </p:nvSpPr>
        <p:spPr>
          <a:xfrm>
            <a:off x="3566160" y="21945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356616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S6-8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3566160" y="252374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Sprint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566160" y="3154680"/>
            <a:ext cx="2606040" cy="3017520"/>
          </a:xfrm>
          <a:prstGeom prst="roundRect">
            <a:avLst>
              <a:gd fmla="val 280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3749040" y="32918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Arquitectura y entorno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749040" y="384048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388620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749040" y="443484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3886200" y="44348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Modelo BD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749040" y="502920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3886200" y="50292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6"/>
          <p:cNvCxnSpPr/>
          <p:nvPr/>
        </p:nvCxnSpPr>
        <p:spPr>
          <a:xfrm>
            <a:off x="9144000" y="257860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C1121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6"/>
          <p:cNvSpPr/>
          <p:nvPr/>
        </p:nvSpPr>
        <p:spPr>
          <a:xfrm>
            <a:off x="6492240" y="21945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649224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S9-14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6492240" y="252374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Desarrollo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492240" y="3154680"/>
            <a:ext cx="2606040" cy="3017520"/>
          </a:xfrm>
          <a:prstGeom prst="roundRect">
            <a:avLst>
              <a:gd fmla="val 280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6675120" y="32918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Ceremonias Scrum por sprint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675120" y="384048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681228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Módulo 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675120" y="443484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6812280" y="44348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Mantenciones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675120" y="502920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6812280" y="50292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9418320" y="21945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941832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S15-16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9418320" y="252374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Cierre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9418320" y="3154680"/>
            <a:ext cx="2606040" cy="3017520"/>
          </a:xfrm>
          <a:prstGeom prst="roundRect">
            <a:avLst>
              <a:gd fmla="val 2807" name="adj"/>
            </a:avLst>
          </a:prstGeom>
          <a:solidFill>
            <a:srgbClr val="2E3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9601200" y="32918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BA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BAC8"/>
                </a:solidFill>
                <a:latin typeface="Calibri"/>
                <a:ea typeface="Calibri"/>
                <a:cs typeface="Calibri"/>
                <a:sym typeface="Calibri"/>
              </a:rPr>
              <a:t>Certificación y entrega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9601200" y="384048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973836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9601200" y="443484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9738360" y="44348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Certificación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9601200" y="502920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9738360" y="50292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Entrega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BOMBEROS TALCAHUANO · CAPSTONE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dots_light.png" id="267" name="Google Shape;2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/>
          <p:nvPr/>
        </p:nvSpPr>
        <p:spPr>
          <a:xfrm rot="-240000">
            <a:off x="-914400" y="5120640"/>
            <a:ext cx="14017752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640080" y="502920"/>
            <a:ext cx="749808" cy="749808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nclusion.png" id="270" name="Google Shape;2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57" y="592897"/>
            <a:ext cx="569854" cy="56985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/>
          <p:nvPr/>
        </p:nvSpPr>
        <p:spPr>
          <a:xfrm>
            <a:off x="1536192" y="548640"/>
            <a:ext cx="658368" cy="310896"/>
          </a:xfrm>
          <a:prstGeom prst="roundRect">
            <a:avLst>
              <a:gd fmla="val 17647" name="adj"/>
            </a:avLst>
          </a:prstGeom>
          <a:solidFill>
            <a:srgbClr val="32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1536192" y="5486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//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1508760" y="8686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Conclusión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40080" y="1536192"/>
            <a:ext cx="10908792" cy="13716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640080" y="19659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276" name="Google Shape;27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 txBox="1"/>
          <p:nvPr/>
        </p:nvSpPr>
        <p:spPr>
          <a:xfrm>
            <a:off x="868680" y="2606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868680" y="31546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sistema centralizado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343400" y="19659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xchange.png" id="280" name="Google Shape;2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7"/>
          <p:cNvSpPr txBox="1"/>
          <p:nvPr/>
        </p:nvSpPr>
        <p:spPr>
          <a:xfrm>
            <a:off x="4572000" y="2606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$0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4572000" y="31546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costo de desarrollo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8046720" y="19659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2A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.png" id="284" name="Google Shape;28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532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 txBox="1"/>
          <p:nvPr/>
        </p:nvSpPr>
        <p:spPr>
          <a:xfrm>
            <a:off x="8275320" y="2606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6F7F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8275320" y="31546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EB8E8"/>
                </a:solidFill>
                <a:latin typeface="Courier New"/>
                <a:ea typeface="Courier New"/>
                <a:cs typeface="Courier New"/>
                <a:sym typeface="Courier New"/>
              </a:rPr>
              <a:t>roles del equipo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640080" y="37490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8E8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AEB8E8"/>
                </a:solidFill>
                <a:latin typeface="Calibri"/>
                <a:ea typeface="Calibri"/>
                <a:cs typeface="Calibri"/>
                <a:sym typeface="Calibri"/>
              </a:rPr>
              <a:t>El equipo considera que esta propuesta es una solución de alto impacto práctico para el Cuerpo de Bomberos de Talcahuano: centraliza información hoy dispersa y agiliza el seguimiento de mantenciones y costos.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40080" y="4663440"/>
            <a:ext cx="3383280" cy="594360"/>
          </a:xfrm>
          <a:prstGeom prst="roundRect">
            <a:avLst>
              <a:gd fmla="val 49231" name="adj"/>
            </a:avLst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640080" y="46634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Técnicamente factible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206240" y="4663440"/>
            <a:ext cx="3383280" cy="594360"/>
          </a:xfrm>
          <a:prstGeom prst="roundRect">
            <a:avLst>
              <a:gd fmla="val 49231" name="adj"/>
            </a:avLst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4206240" y="46634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Alto impacto social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7772400" y="4663440"/>
            <a:ext cx="3383280" cy="594360"/>
          </a:xfrm>
          <a:prstGeom prst="roundRect">
            <a:avLst>
              <a:gd fmla="val 49231" name="adj"/>
            </a:avLst>
          </a:prstGeom>
          <a:solidFill>
            <a:srgbClr val="C11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7772400" y="46634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Scrum + Django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BOMBEROS TALCAHUANO · CAPSTONE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D97C4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D97C4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2026-08-30T23:26:07Z</dcterms:created>
  <dc:creator>PptxGenJS</dc:creator>
</cp:coreProperties>
</file>